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69680" y="1819656"/>
            <a:ext cx="1243584" cy="46634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1819656"/>
            <a:ext cx="777240" cy="777240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286000"/>
            <a:ext cx="854964" cy="108813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90504" y="2596896"/>
            <a:ext cx="621792" cy="101041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24644" y="3374136"/>
            <a:ext cx="854964" cy="124358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113264" y="1586484"/>
            <a:ext cx="1632204" cy="23317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890504" y="1586484"/>
            <a:ext cx="854964" cy="101041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0576" y="3374136"/>
            <a:ext cx="544068" cy="93268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0576" y="4306824"/>
            <a:ext cx="1399032" cy="3108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79608" y="3607308"/>
            <a:ext cx="932688" cy="101041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45322" y="2161642"/>
            <a:ext cx="248717" cy="248717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35540" y="1741932"/>
            <a:ext cx="155448" cy="155448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463" y="2495855"/>
            <a:ext cx="202082" cy="202082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54692" y="3304184"/>
            <a:ext cx="139903" cy="139903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426800" y="3521812"/>
            <a:ext cx="170993" cy="170993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18397" y="4244645"/>
            <a:ext cx="124358" cy="124358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470794" y="4508906"/>
            <a:ext cx="217627" cy="217627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691061" y="1532077"/>
            <a:ext cx="108814" cy="108814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01168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Programmable Payment Rail</a:t>
            </a:r>
            <a:endParaRPr lang="en-US" sz="3200" dirty="0"/>
          </a:p>
          <a:p>
            <a:pPr indent="0" marL="0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Global Money Movement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with the UK → India corridor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1B2A4D"/>
          </a:solidFill>
          <a:ln w="12700">
            <a:solidFill>
              <a:srgbClr val="3343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177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46504" y="4869180"/>
            <a:ext cx="347472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148840" y="461772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46177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55264" y="4869180"/>
            <a:ext cx="347472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57600" y="4617720"/>
            <a:ext cx="1051560" cy="502920"/>
          </a:xfrm>
          <a:prstGeom prst="roundRect">
            <a:avLst>
              <a:gd name="adj" fmla="val 12727"/>
            </a:avLst>
          </a:prstGeom>
          <a:solidFill>
            <a:srgbClr val="1B2A4D"/>
          </a:solidFill>
          <a:ln w="12700">
            <a:solidFill>
              <a:srgbClr val="334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46177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INVESTOR DISCUSSION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payments are still broken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typical path from sender to recipient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E1F7F2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63240" y="2304288"/>
            <a:ext cx="0" cy="128016"/>
          </a:xfrm>
          <a:prstGeom prst="line">
            <a:avLst/>
          </a:prstGeom>
          <a:noFill/>
          <a:ln w="19050">
            <a:solidFill>
              <a:srgbClr val="8593A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2441448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4144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bank / provider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063240" y="2962656"/>
            <a:ext cx="0" cy="128016"/>
          </a:xfrm>
          <a:prstGeom prst="line">
            <a:avLst/>
          </a:prstGeom>
          <a:noFill/>
          <a:ln w="19050">
            <a:solidFill>
              <a:srgbClr val="8593A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099816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98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/ payment 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63240" y="3621024"/>
            <a:ext cx="0" cy="128016"/>
          </a:xfrm>
          <a:prstGeom prst="line">
            <a:avLst/>
          </a:prstGeom>
          <a:noFill/>
          <a:ln w="19050">
            <a:solidFill>
              <a:srgbClr val="8593A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758184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581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conversion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63240" y="4279392"/>
            <a:ext cx="0" cy="128016"/>
          </a:xfrm>
          <a:prstGeom prst="line">
            <a:avLst/>
          </a:prstGeom>
          <a:noFill/>
          <a:ln w="19050">
            <a:solidFill>
              <a:srgbClr val="8593A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416552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41655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 institutions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63240" y="4937760"/>
            <a:ext cx="0" cy="128016"/>
          </a:xfrm>
          <a:prstGeom prst="line">
            <a:avLst/>
          </a:prstGeom>
          <a:noFill/>
          <a:ln w="19050">
            <a:solidFill>
              <a:srgbClr val="8593A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5074920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50749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bank / provider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063240" y="5596128"/>
            <a:ext cx="0" cy="128016"/>
          </a:xfrm>
          <a:prstGeom prst="line">
            <a:avLst/>
          </a:prstGeom>
          <a:noFill/>
          <a:ln w="19050">
            <a:solidFill>
              <a:srgbClr val="8593A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5733288"/>
            <a:ext cx="5029200" cy="512064"/>
          </a:xfrm>
          <a:prstGeom prst="roundRect">
            <a:avLst>
              <a:gd name="adj" fmla="val 12500"/>
            </a:avLst>
          </a:prstGeom>
          <a:solidFill>
            <a:srgbClr val="E1F7F2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73328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1810512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26" name="Image 0" descr="/home/claude/gyb-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20240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85432" y="176479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intermediaries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885432" y="203911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hop adds cost, delay and failure points.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291072" y="2596896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0" name="Image 1" descr="/home/claude/gyb-deck/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06624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885432" y="255117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spreads &amp; hidden fees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885432" y="282549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Markups are buried in the exchange rate, not the fee line.</a:t>
            </a:r>
            <a:endParaRPr lang="en-US" sz="1080" dirty="0"/>
          </a:p>
        </p:txBody>
      </p:sp>
      <p:sp>
        <p:nvSpPr>
          <p:cNvPr id="33" name="Shape 29"/>
          <p:cNvSpPr/>
          <p:nvPr/>
        </p:nvSpPr>
        <p:spPr>
          <a:xfrm>
            <a:off x="6291072" y="3383280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4" name="Image 2" descr="/home/claude/gyb-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93008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885432" y="333756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delays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6885432" y="36118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can take days to clear through correspondent chains.</a:t>
            </a:r>
            <a:endParaRPr lang="en-US" sz="1080" dirty="0"/>
          </a:p>
        </p:txBody>
      </p:sp>
      <p:sp>
        <p:nvSpPr>
          <p:cNvPr id="37" name="Shape 32"/>
          <p:cNvSpPr/>
          <p:nvPr/>
        </p:nvSpPr>
        <p:spPr>
          <a:xfrm>
            <a:off x="6291072" y="4169664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8" name="Image 3" descr="/home/claude/gyb-deck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79392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85432" y="412394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APIs &amp; rails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6885432" y="4398264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and corridor speaks a different language.</a:t>
            </a:r>
            <a:endParaRPr lang="en-US" sz="1080" dirty="0"/>
          </a:p>
        </p:txBody>
      </p:sp>
      <p:sp>
        <p:nvSpPr>
          <p:cNvPr id="41" name="Shape 35"/>
          <p:cNvSpPr/>
          <p:nvPr/>
        </p:nvSpPr>
        <p:spPr>
          <a:xfrm>
            <a:off x="6291072" y="4956048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42" name="Image 4" descr="/home/claude/gyb-deck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5065776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885432" y="491032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complexity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6885432" y="518464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leg carries its own regulatory and screening burden.</a:t>
            </a:r>
            <a:endParaRPr lang="en-US" sz="1080" dirty="0"/>
          </a:p>
        </p:txBody>
      </p:sp>
      <p:sp>
        <p:nvSpPr>
          <p:cNvPr id="45" name="Shape 38"/>
          <p:cNvSpPr/>
          <p:nvPr/>
        </p:nvSpPr>
        <p:spPr>
          <a:xfrm>
            <a:off x="6291072" y="5742432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46" name="Image 5" descr="/home/claude/gyb-deck/icons/eyeo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852160"/>
            <a:ext cx="237744" cy="23774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885432" y="569671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price transparency</a:t>
            </a:r>
            <a:endParaRPr lang="en-US" sz="1350" dirty="0"/>
          </a:p>
        </p:txBody>
      </p:sp>
      <p:sp>
        <p:nvSpPr>
          <p:cNvPr id="48" name="Text 40"/>
          <p:cNvSpPr/>
          <p:nvPr/>
        </p:nvSpPr>
        <p:spPr>
          <a:xfrm>
            <a:off x="6885432" y="597103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Senders rarely know the true cost until after they've sent it.</a:t>
            </a:r>
            <a:endParaRPr lang="en-US" sz="1080" dirty="0"/>
          </a:p>
        </p:txBody>
      </p:sp>
      <p:sp>
        <p:nvSpPr>
          <p:cNvPr id="49" name="Text 41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22960" y="5458968"/>
            <a:ext cx="804672" cy="30175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27632" y="5458968"/>
            <a:ext cx="502920" cy="502920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760720"/>
            <a:ext cx="553212" cy="70408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0552" y="5961888"/>
            <a:ext cx="402336" cy="6537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6172" y="6464808"/>
            <a:ext cx="553212" cy="80467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627632" y="5308092"/>
            <a:ext cx="1056132" cy="15087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130552" y="5308092"/>
            <a:ext cx="553212" cy="6537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6464808"/>
            <a:ext cx="352044" cy="60350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7068312"/>
            <a:ext cx="905256" cy="20116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9384" y="6615684"/>
            <a:ext cx="603504" cy="6537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2493" y="5680253"/>
            <a:ext cx="160934" cy="160934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77340" y="5408676"/>
            <a:ext cx="100584" cy="100584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65172" y="5896508"/>
            <a:ext cx="130759" cy="130759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30909" y="6419545"/>
            <a:ext cx="90526" cy="90526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7567" y="6560363"/>
            <a:ext cx="110642" cy="110642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3894" y="7028078"/>
            <a:ext cx="80467" cy="80467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8975" y="7199071"/>
            <a:ext cx="140818" cy="140818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48560" y="5272888"/>
            <a:ext cx="70409" cy="70409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10972800" y="521208"/>
            <a:ext cx="804672" cy="30175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77472" y="521208"/>
            <a:ext cx="502920" cy="502920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822960"/>
            <a:ext cx="553212" cy="70408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80392" y="1024128"/>
            <a:ext cx="402336" cy="6537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26012" y="1527048"/>
            <a:ext cx="553212" cy="80467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1777472" y="370332"/>
            <a:ext cx="1056132" cy="15087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2280392" y="370332"/>
            <a:ext cx="553212" cy="6537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73968" y="1527048"/>
            <a:ext cx="352044" cy="60350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73968" y="2130552"/>
            <a:ext cx="905256" cy="20116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79224" y="1677924"/>
            <a:ext cx="603504" cy="6537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92333" y="742493"/>
            <a:ext cx="160934" cy="160934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727180" y="470916"/>
            <a:ext cx="100584" cy="100584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215012" y="958748"/>
            <a:ext cx="130759" cy="130759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480749" y="1481785"/>
            <a:ext cx="90526" cy="90526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627407" y="1622603"/>
            <a:ext cx="110642" cy="110642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133734" y="2090318"/>
            <a:ext cx="80467" cy="80467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2008815" y="2261311"/>
            <a:ext cx="140818" cy="140818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798400" y="335128"/>
            <a:ext cx="70409" cy="70409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9601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PROMISE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8016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send £500. My recipient receives the correct INR — quickly and cheaply.”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3055468" y="393192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1B2A4D"/>
          </a:solidFill>
          <a:ln w="12700">
            <a:solidFill>
              <a:srgbClr val="3343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1188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728820" y="4320540"/>
            <a:ext cx="493776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295748" y="393192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1468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969100" y="4320540"/>
            <a:ext cx="493776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536028" y="3931920"/>
            <a:ext cx="1600200" cy="777240"/>
          </a:xfrm>
          <a:prstGeom prst="roundRect">
            <a:avLst>
              <a:gd name="adj" fmla="val 8235"/>
            </a:avLst>
          </a:prstGeom>
          <a:solidFill>
            <a:srgbClr val="1B2A4D"/>
          </a:solidFill>
          <a:ln w="12700">
            <a:solidFill>
              <a:srgbClr val="3343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1748" y="393192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80160" y="5029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in between is GYB's job — not the customer's.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rail. Many paths. Invisible to the customer.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0360152" cy="1188720"/>
          </a:xfrm>
          <a:prstGeom prst="roundRect">
            <a:avLst>
              <a:gd name="adj" fmla="val 6923"/>
            </a:avLst>
          </a:prstGeom>
          <a:solidFill>
            <a:srgbClr val="E1F7F2"/>
          </a:solidFill>
          <a:ln w="12700">
            <a:solidFill>
              <a:srgbClr val="BFEB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554480"/>
            <a:ext cx="9445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 is building a global payment rail that abstracts away the complexity of cross-border settlement and dynamically selects the most efficient payment path.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Sender  →  GYB  →  Global Recipient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6758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 CAN ROUTE EACH TRANSFER THROUGH: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5168" y="406908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888" y="406908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fiat collection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7632" y="406908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3352" y="406908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/ PSP settlement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0096" y="406908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5816" y="406908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providers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5168" y="489204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888" y="489204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payout rails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7632" y="489204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3352" y="489204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 liquidity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80096" y="489204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5816" y="489204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5168" y="571500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888" y="571500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stablecoin settlement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67632" y="571500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13352" y="571500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settlement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80096" y="5715000"/>
            <a:ext cx="3456432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25816" y="5715000"/>
            <a:ext cx="3364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financial providers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transfer, five possible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 doesn't commit a corridor to one rail — it evaluates the route per transaction.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6" name="Image 0" descr="/home/claude/gyb-deck/icons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011" y="2084603"/>
            <a:ext cx="457" cy="4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34440" y="1828800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1828800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753612" y="2084832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72484" y="1828800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18204" y="1828800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local collection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391656" y="2084832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510528" y="1828800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56248" y="1828800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partner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9029700" y="2084832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148572" y="1828800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94292" y="1828800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payout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20" name="Image 1" descr="/home/claude/gyb-deck/icons/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11" y="2925851"/>
            <a:ext cx="457" cy="45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234440" y="2670048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280160" y="2670048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3753612" y="2926080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872484" y="2670048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918204" y="2670048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collection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6391656" y="2926080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510528" y="2670048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56248" y="2670048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provider</a:t>
            </a:r>
            <a:endParaRPr lang="en-US" sz="930" dirty="0"/>
          </a:p>
        </p:txBody>
      </p:sp>
      <p:sp>
        <p:nvSpPr>
          <p:cNvPr id="30" name="Shape 26"/>
          <p:cNvSpPr/>
          <p:nvPr/>
        </p:nvSpPr>
        <p:spPr>
          <a:xfrm>
            <a:off x="9029700" y="2926080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9148572" y="2670048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194292" y="2670048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payout</a:t>
            </a:r>
            <a:endParaRPr lang="en-US" sz="930" dirty="0"/>
          </a:p>
        </p:txBody>
      </p:sp>
      <p:sp>
        <p:nvSpPr>
          <p:cNvPr id="33" name="Shape 29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4" name="Image 2" descr="/home/claude/gyb-deck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11" y="3767099"/>
            <a:ext cx="457" cy="457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486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1234440" y="3511296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280160" y="3511296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930" dirty="0"/>
          </a:p>
        </p:txBody>
      </p:sp>
      <p:sp>
        <p:nvSpPr>
          <p:cNvPr id="38" name="Shape 33"/>
          <p:cNvSpPr/>
          <p:nvPr/>
        </p:nvSpPr>
        <p:spPr>
          <a:xfrm>
            <a:off x="3753612" y="3767328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3872484" y="3511296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918204" y="3511296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 liquidity</a:t>
            </a:r>
            <a:endParaRPr lang="en-US" sz="930" dirty="0"/>
          </a:p>
        </p:txBody>
      </p:sp>
      <p:sp>
        <p:nvSpPr>
          <p:cNvPr id="41" name="Shape 36"/>
          <p:cNvSpPr/>
          <p:nvPr/>
        </p:nvSpPr>
        <p:spPr>
          <a:xfrm>
            <a:off x="6391656" y="3767328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6510528" y="3511296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556248" y="3511296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liquidity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9029700" y="3767328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5" name="Shape 40"/>
          <p:cNvSpPr/>
          <p:nvPr/>
        </p:nvSpPr>
        <p:spPr>
          <a:xfrm>
            <a:off x="9148572" y="3511296"/>
            <a:ext cx="2510028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194292" y="3511296"/>
            <a:ext cx="24185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payout</a:t>
            </a:r>
            <a:endParaRPr lang="en-US" sz="930" dirty="0"/>
          </a:p>
        </p:txBody>
      </p:sp>
      <p:sp>
        <p:nvSpPr>
          <p:cNvPr id="47" name="Shape 42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48" name="Image 3" descr="/home/claude/gyb-deck/icons/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11" y="4608347"/>
            <a:ext cx="457" cy="457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1234440" y="4352544"/>
            <a:ext cx="1982419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1280160" y="4352544"/>
            <a:ext cx="1890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930" dirty="0"/>
          </a:p>
        </p:txBody>
      </p:sp>
      <p:sp>
        <p:nvSpPr>
          <p:cNvPr id="52" name="Shape 46"/>
          <p:cNvSpPr/>
          <p:nvPr/>
        </p:nvSpPr>
        <p:spPr>
          <a:xfrm>
            <a:off x="3226003" y="4608576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53" name="Shape 47"/>
          <p:cNvSpPr/>
          <p:nvPr/>
        </p:nvSpPr>
        <p:spPr>
          <a:xfrm>
            <a:off x="3344875" y="4352544"/>
            <a:ext cx="1982419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3390595" y="4352544"/>
            <a:ext cx="1890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</a:t>
            </a:r>
            <a:endParaRPr lang="en-US" sz="930" dirty="0"/>
          </a:p>
        </p:txBody>
      </p:sp>
      <p:sp>
        <p:nvSpPr>
          <p:cNvPr id="55" name="Shape 49"/>
          <p:cNvSpPr/>
          <p:nvPr/>
        </p:nvSpPr>
        <p:spPr>
          <a:xfrm>
            <a:off x="5336438" y="4608576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56" name="Shape 50"/>
          <p:cNvSpPr/>
          <p:nvPr/>
        </p:nvSpPr>
        <p:spPr>
          <a:xfrm>
            <a:off x="5455310" y="4352544"/>
            <a:ext cx="1982419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5501030" y="4352544"/>
            <a:ext cx="1890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30" dirty="0"/>
          </a:p>
        </p:txBody>
      </p:sp>
      <p:sp>
        <p:nvSpPr>
          <p:cNvPr id="58" name="Shape 52"/>
          <p:cNvSpPr/>
          <p:nvPr/>
        </p:nvSpPr>
        <p:spPr>
          <a:xfrm>
            <a:off x="7446874" y="4608576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59" name="Shape 53"/>
          <p:cNvSpPr/>
          <p:nvPr/>
        </p:nvSpPr>
        <p:spPr>
          <a:xfrm>
            <a:off x="7565746" y="4352544"/>
            <a:ext cx="1982419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611466" y="4352544"/>
            <a:ext cx="1890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liquidity</a:t>
            </a:r>
            <a:endParaRPr lang="en-US" sz="930" dirty="0"/>
          </a:p>
        </p:txBody>
      </p:sp>
      <p:sp>
        <p:nvSpPr>
          <p:cNvPr id="61" name="Shape 55"/>
          <p:cNvSpPr/>
          <p:nvPr/>
        </p:nvSpPr>
        <p:spPr>
          <a:xfrm>
            <a:off x="9557309" y="4608576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62" name="Shape 56"/>
          <p:cNvSpPr/>
          <p:nvPr/>
        </p:nvSpPr>
        <p:spPr>
          <a:xfrm>
            <a:off x="9676181" y="4352544"/>
            <a:ext cx="1982419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9721901" y="4352544"/>
            <a:ext cx="18909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payout</a:t>
            </a:r>
            <a:endParaRPr lang="en-US" sz="930" dirty="0"/>
          </a:p>
        </p:txBody>
      </p:sp>
      <p:sp>
        <p:nvSpPr>
          <p:cNvPr id="64" name="Shape 58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65" name="Image 4" descr="/home/claude/gyb-deck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11" y="5449595"/>
            <a:ext cx="457" cy="457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54864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67" name="Shape 60"/>
          <p:cNvSpPr/>
          <p:nvPr/>
        </p:nvSpPr>
        <p:spPr>
          <a:xfrm>
            <a:off x="1234440" y="5193792"/>
            <a:ext cx="3389376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1280160" y="5193792"/>
            <a:ext cx="3297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</a:t>
            </a:r>
            <a:endParaRPr lang="en-US" sz="930" dirty="0"/>
          </a:p>
        </p:txBody>
      </p:sp>
      <p:sp>
        <p:nvSpPr>
          <p:cNvPr id="69" name="Shape 62"/>
          <p:cNvSpPr/>
          <p:nvPr/>
        </p:nvSpPr>
        <p:spPr>
          <a:xfrm>
            <a:off x="4632960" y="5449824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70" name="Shape 63"/>
          <p:cNvSpPr/>
          <p:nvPr/>
        </p:nvSpPr>
        <p:spPr>
          <a:xfrm>
            <a:off x="4751832" y="5193792"/>
            <a:ext cx="3389376" cy="512064"/>
          </a:xfrm>
          <a:prstGeom prst="roundRect">
            <a:avLst>
              <a:gd name="adj" fmla="val 12500"/>
            </a:avLst>
          </a:prstGeom>
          <a:solidFill>
            <a:srgbClr val="1F2E52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4797552" y="5193792"/>
            <a:ext cx="3297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settlement</a:t>
            </a:r>
            <a:endParaRPr lang="en-US" sz="930" dirty="0"/>
          </a:p>
        </p:txBody>
      </p:sp>
      <p:sp>
        <p:nvSpPr>
          <p:cNvPr id="72" name="Shape 65"/>
          <p:cNvSpPr/>
          <p:nvPr/>
        </p:nvSpPr>
        <p:spPr>
          <a:xfrm>
            <a:off x="8150352" y="5449824"/>
            <a:ext cx="109728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73" name="Shape 66"/>
          <p:cNvSpPr/>
          <p:nvPr/>
        </p:nvSpPr>
        <p:spPr>
          <a:xfrm>
            <a:off x="8269224" y="5193792"/>
            <a:ext cx="3389376" cy="512064"/>
          </a:xfrm>
          <a:prstGeom prst="roundRect">
            <a:avLst>
              <a:gd name="adj" fmla="val 1250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8314944" y="5193792"/>
            <a:ext cx="3297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payout</a:t>
            </a:r>
            <a:endParaRPr lang="en-US" sz="930" dirty="0"/>
          </a:p>
        </p:txBody>
      </p:sp>
      <p:sp>
        <p:nvSpPr>
          <p:cNvPr id="75" name="Text 68"/>
          <p:cNvSpPr/>
          <p:nvPr/>
        </p:nvSpPr>
        <p:spPr>
          <a:xfrm>
            <a:off x="548640" y="61447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engine picks the winner per transaction — not per corridor.</a:t>
            </a:r>
            <a:endParaRPr lang="en-US" sz="1250" dirty="0"/>
          </a:p>
        </p:txBody>
      </p:sp>
      <p:sp>
        <p:nvSpPr>
          <p:cNvPr id="76" name="Text 69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77" name="Text 7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ROUTING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routing engine evaluates — on every transaction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8300" y="16002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2036" y="1773936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6" name="Image 0" descr="/home/claude/gyb-deck/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098" y="190999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1260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6900" y="23134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 cost across every fee, spread and markup in the path.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35628" y="16002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9364" y="1773936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11" name="Image 1" descr="/home/claude/gyb-deck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426" y="190999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8588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rate &amp; fees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64228" y="23134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pricing and provider fees compared across every route.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02956" y="16002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6692" y="1773936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16" name="Image 2" descr="/home/claude/gyb-deck/icons/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754" y="190999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5916" y="17647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availability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1556" y="23134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sufficient liquidity exists on each leg right now.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68300" y="322783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2036" y="3401568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21" name="Image 3" descr="/home/claude/gyb-deck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98" y="353763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91260" y="3392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speed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96900" y="39410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funds can actually clear and land with the recipient.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35628" y="322783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9364" y="3401568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26" name="Image 4" descr="/home/claude/gyb-deck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426" y="353763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58588" y="3392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64228" y="39410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success rate and failure behavior of each path.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102956" y="3227832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6692" y="3401568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1" name="Image 5" descr="/home/claude/gyb-dec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754" y="3537631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5916" y="33924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31556" y="394106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screening requirements specific to the route.</a:t>
            </a:r>
            <a:endParaRPr lang="en-US" sz="1030" dirty="0"/>
          </a:p>
        </p:txBody>
      </p:sp>
      <p:sp>
        <p:nvSpPr>
          <p:cNvPr id="34" name="Shape 26"/>
          <p:cNvSpPr/>
          <p:nvPr/>
        </p:nvSpPr>
        <p:spPr>
          <a:xfrm>
            <a:off x="568300" y="4855464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2036" y="5029200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6" name="Image 6" descr="/home/claude/gyb-deck/icons/slid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098" y="5165263"/>
            <a:ext cx="294803" cy="29480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91260" y="50200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limits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96900" y="55686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Per-route caps on transaction size and daily volume.</a:t>
            </a:r>
            <a:endParaRPr lang="en-US" sz="1030" dirty="0"/>
          </a:p>
        </p:txBody>
      </p:sp>
      <p:sp>
        <p:nvSpPr>
          <p:cNvPr id="39" name="Shape 30"/>
          <p:cNvSpPr/>
          <p:nvPr/>
        </p:nvSpPr>
        <p:spPr>
          <a:xfrm>
            <a:off x="4335628" y="4855464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509364" y="5029200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41" name="Image 7" descr="/home/claude/gyb-deck/icons/activit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426" y="5165263"/>
            <a:ext cx="294803" cy="29480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58588" y="50200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health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4564228" y="55686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of each connected financial provider.</a:t>
            </a:r>
            <a:endParaRPr lang="en-US" sz="1030" dirty="0"/>
          </a:p>
        </p:txBody>
      </p:sp>
      <p:sp>
        <p:nvSpPr>
          <p:cNvPr id="44" name="Shape 34"/>
          <p:cNvSpPr/>
          <p:nvPr/>
        </p:nvSpPr>
        <p:spPr>
          <a:xfrm>
            <a:off x="8102956" y="4855464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76692" y="5029200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46" name="Image 8" descr="/home/claude/gyb-deck/icons/glob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754" y="5165263"/>
            <a:ext cx="294803" cy="29480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25916" y="50200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availability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331556" y="556869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given corridor is open on that route today.</a:t>
            </a:r>
            <a:endParaRPr lang="en-US" sz="1030" dirty="0"/>
          </a:p>
        </p:txBody>
      </p:sp>
      <p:sp>
        <p:nvSpPr>
          <p:cNvPr id="49" name="Text 38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50" name="Text 3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 market still run on legacy 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71904" y="1545336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5" name="Image 0" descr="/home/claude/gyb-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966" y="1681399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3728" y="2240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$230B+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00888" y="32004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cross-border payments market in 2026 — growing toward $350B+ by the early 2030s.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12384" y="1545336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9" name="Image 1" descr="/home/claude/gyb-deck/icons/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446" y="1681399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4208" y="2240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£3.3B+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4541368" y="32004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from the UK to India each year — one of the UK's largest single remittance corridors.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52864" y="1545336"/>
            <a:ext cx="566928" cy="566928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13" name="Image 2" descr="/home/claude/gyb-deck/icons/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926" y="168139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44688" y="2240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$135B+</a:t>
            </a:r>
            <a:endParaRPr lang="en-US" sz="4600" dirty="0"/>
          </a:p>
        </p:txBody>
      </p:sp>
      <p:sp>
        <p:nvSpPr>
          <p:cNvPr id="15" name="Text 10"/>
          <p:cNvSpPr/>
          <p:nvPr/>
        </p:nvSpPr>
        <p:spPr>
          <a:xfrm>
            <a:off x="8381848" y="32004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received by India annually, the world's largest recipient — with the UK among its top sources.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280160" y="4251960"/>
            <a:ext cx="96286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714500" y="4480560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18" name="Image 3" descr="/home/claude/gyb-deck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201" y="460126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23160" y="425196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i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settlement rails and the shift to ISO 20022 are accelerating the move away from legacy correspondent banking — while stablecoins still make up only about 1% of global payment flows today, leaving room for a programmable rail to lead.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486400"/>
            <a:ext cx="1109167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aggregated cross-border payments market research; UK and Indian remittance data (2024–2026).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GYB stands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infrastructure is built. Regulated movement of real money is not yet live.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" y="1741932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7" name="Image 0" descr="/home/claude/gyb-dec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1" y="186263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73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OPERATING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2514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3856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protocol &amp; orchestration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3337560" y="2514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57016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state machine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914400" y="2971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3856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integration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3337560" y="2971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57016" y="2971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&amp; settlement abstraction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914400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33856" y="3429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integrity</a:t>
            </a:r>
            <a:endParaRPr lang="en-US" sz="1030" dirty="0"/>
          </a:p>
        </p:txBody>
      </p:sp>
      <p:sp>
        <p:nvSpPr>
          <p:cNvPr id="19" name="Text 16"/>
          <p:cNvSpPr/>
          <p:nvPr/>
        </p:nvSpPr>
        <p:spPr>
          <a:xfrm>
            <a:off x="3337560" y="3429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557016" y="34290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replay protection</a:t>
            </a:r>
            <a:endParaRPr lang="en-US" sz="1030" dirty="0"/>
          </a:p>
        </p:txBody>
      </p:sp>
      <p:sp>
        <p:nvSpPr>
          <p:cNvPr id="21" name="Text 18"/>
          <p:cNvSpPr/>
          <p:nvPr/>
        </p:nvSpPr>
        <p:spPr>
          <a:xfrm>
            <a:off x="91440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3856" y="38862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safety gates</a:t>
            </a:r>
            <a:endParaRPr lang="en-US" sz="1030" dirty="0"/>
          </a:p>
        </p:txBody>
      </p:sp>
      <p:sp>
        <p:nvSpPr>
          <p:cNvPr id="23" name="Text 20"/>
          <p:cNvSpPr/>
          <p:nvPr/>
        </p:nvSpPr>
        <p:spPr>
          <a:xfrm>
            <a:off x="3337560" y="3886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557016" y="38862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governance layer</a:t>
            </a:r>
            <a:endParaRPr lang="en-US" sz="1030" dirty="0"/>
          </a:p>
        </p:txBody>
      </p:sp>
      <p:sp>
        <p:nvSpPr>
          <p:cNvPr id="25" name="Text 22"/>
          <p:cNvSpPr/>
          <p:nvPr/>
        </p:nvSpPr>
        <p:spPr>
          <a:xfrm>
            <a:off x="914400" y="4343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33856" y="43434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connector abstraction</a:t>
            </a:r>
            <a:endParaRPr lang="en-US" sz="1030" dirty="0"/>
          </a:p>
        </p:txBody>
      </p:sp>
      <p:sp>
        <p:nvSpPr>
          <p:cNvPr id="27" name="Text 24"/>
          <p:cNvSpPr/>
          <p:nvPr/>
        </p:nvSpPr>
        <p:spPr>
          <a:xfrm>
            <a:off x="3337560" y="43434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557016" y="43434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&amp; treasury framework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914400" y="4800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33856" y="4800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netting logic</a:t>
            </a:r>
            <a:endParaRPr lang="en-US" sz="1030" dirty="0"/>
          </a:p>
        </p:txBody>
      </p:sp>
      <p:sp>
        <p:nvSpPr>
          <p:cNvPr id="31" name="Text 28"/>
          <p:cNvSpPr/>
          <p:nvPr/>
        </p:nvSpPr>
        <p:spPr>
          <a:xfrm>
            <a:off x="3337560" y="48006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557016" y="4800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web app &amp; ops console</a:t>
            </a:r>
            <a:endParaRPr lang="en-US" sz="1030" dirty="0"/>
          </a:p>
        </p:txBody>
      </p:sp>
      <p:sp>
        <p:nvSpPr>
          <p:cNvPr id="33" name="Text 30"/>
          <p:cNvSpPr/>
          <p:nvPr/>
        </p:nvSpPr>
        <p:spPr>
          <a:xfrm>
            <a:off x="914400" y="5257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33856" y="5257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financial network</a:t>
            </a:r>
            <a:endParaRPr lang="en-US" sz="1030" dirty="0"/>
          </a:p>
        </p:txBody>
      </p:sp>
      <p:sp>
        <p:nvSpPr>
          <p:cNvPr id="35" name="Text 32"/>
          <p:cNvSpPr/>
          <p:nvPr/>
        </p:nvSpPr>
        <p:spPr>
          <a:xfrm>
            <a:off x="3337560" y="5257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557016" y="5257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→ India corridor config</a:t>
            </a:r>
            <a:endParaRPr lang="en-US" sz="1030" dirty="0"/>
          </a:p>
        </p:txBody>
      </p:sp>
      <p:sp>
        <p:nvSpPr>
          <p:cNvPr id="37" name="Shape 34"/>
          <p:cNvSpPr/>
          <p:nvPr/>
        </p:nvSpPr>
        <p:spPr>
          <a:xfrm>
            <a:off x="6245352" y="155448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FCF0DD"/>
          </a:solidFill>
          <a:ln w="12700">
            <a:solidFill>
              <a:srgbClr val="F0D9A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51092" y="1741932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9" name="Image 1" descr="/home/claude/gyb-deck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793" y="1862633"/>
            <a:ext cx="261518" cy="26151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022592" y="1773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50" kern="0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PARTNER-DEPENDENT</a:t>
            </a:r>
            <a:endParaRPr lang="en-US" sz="1450" dirty="0"/>
          </a:p>
        </p:txBody>
      </p:sp>
      <p:sp>
        <p:nvSpPr>
          <p:cNvPr id="41" name="Text 37"/>
          <p:cNvSpPr/>
          <p:nvPr/>
        </p:nvSpPr>
        <p:spPr>
          <a:xfrm>
            <a:off x="6611112" y="25146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6830568" y="25146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banking connectivity</a:t>
            </a:r>
            <a:endParaRPr lang="en-US" sz="1130" dirty="0"/>
          </a:p>
        </p:txBody>
      </p:sp>
      <p:sp>
        <p:nvSpPr>
          <p:cNvPr id="43" name="Text 39"/>
          <p:cNvSpPr/>
          <p:nvPr/>
        </p:nvSpPr>
        <p:spPr>
          <a:xfrm>
            <a:off x="6611112" y="291693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830568" y="291693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authorization</a:t>
            </a:r>
            <a:endParaRPr lang="en-US" sz="1130" dirty="0"/>
          </a:p>
        </p:txBody>
      </p:sp>
      <p:sp>
        <p:nvSpPr>
          <p:cNvPr id="45" name="Text 41"/>
          <p:cNvSpPr/>
          <p:nvPr/>
        </p:nvSpPr>
        <p:spPr>
          <a:xfrm>
            <a:off x="6611112" y="331927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6830568" y="33192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authorization</a:t>
            </a:r>
            <a:endParaRPr lang="en-US" sz="1130" dirty="0"/>
          </a:p>
        </p:txBody>
      </p:sp>
      <p:sp>
        <p:nvSpPr>
          <p:cNvPr id="47" name="Text 43"/>
          <p:cNvSpPr/>
          <p:nvPr/>
        </p:nvSpPr>
        <p:spPr>
          <a:xfrm>
            <a:off x="6611112" y="3721608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6830568" y="372160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banking credentials</a:t>
            </a:r>
            <a:endParaRPr lang="en-US" sz="1130" dirty="0"/>
          </a:p>
        </p:txBody>
      </p:sp>
      <p:sp>
        <p:nvSpPr>
          <p:cNvPr id="49" name="Text 45"/>
          <p:cNvSpPr/>
          <p:nvPr/>
        </p:nvSpPr>
        <p:spPr>
          <a:xfrm>
            <a:off x="6611112" y="4123944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6830568" y="412394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of real customer funds</a:t>
            </a:r>
            <a:endParaRPr lang="en-US" sz="1130" dirty="0"/>
          </a:p>
        </p:txBody>
      </p:sp>
      <p:sp>
        <p:nvSpPr>
          <p:cNvPr id="51" name="Text 47"/>
          <p:cNvSpPr/>
          <p:nvPr/>
        </p:nvSpPr>
        <p:spPr>
          <a:xfrm>
            <a:off x="6611112" y="45262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6830568" y="45262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stablecoin (USDC) settlement</a:t>
            </a:r>
            <a:endParaRPr lang="en-US" sz="1130" dirty="0"/>
          </a:p>
        </p:txBody>
      </p:sp>
      <p:sp>
        <p:nvSpPr>
          <p:cNvPr id="53" name="Text 49"/>
          <p:cNvSpPr/>
          <p:nvPr/>
        </p:nvSpPr>
        <p:spPr>
          <a:xfrm>
            <a:off x="6611112" y="4928616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6830568" y="49286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liquidity pools</a:t>
            </a:r>
            <a:endParaRPr lang="en-US" sz="1130" dirty="0"/>
          </a:p>
        </p:txBody>
      </p:sp>
      <p:sp>
        <p:nvSpPr>
          <p:cNvPr id="55" name="Text 51"/>
          <p:cNvSpPr/>
          <p:nvPr/>
        </p:nvSpPr>
        <p:spPr>
          <a:xfrm>
            <a:off x="6611112" y="533095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6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6830568" y="53309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customers &amp; institutional pricing</a:t>
            </a:r>
            <a:endParaRPr lang="en-US" sz="1130" dirty="0"/>
          </a:p>
        </p:txBody>
      </p:sp>
      <p:sp>
        <p:nvSpPr>
          <p:cNvPr id="57" name="Text 53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58" name="Text 5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GYB 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4584" y="1508760"/>
            <a:ext cx="351129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3184" y="169164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6" name="Image 0" descr="/home/claude/gyb-deck/icons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857" y="1823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904" y="237744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8904" y="2770632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and business cross-border payments over Wise's own network and local rails.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40200" y="1508760"/>
            <a:ext cx="351129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8800" y="169164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11" name="Image 1" descr="/home/claude/gyb-deck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473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4520" y="237744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4520" y="2770632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 infrastructure with local receiving accounts and a flat-fee model.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125816" y="1508760"/>
            <a:ext cx="351129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4416" y="169164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16" name="Image 2" descr="/home/claude/gyb-deck/icons/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89" y="18233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0136" y="237744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0136" y="2770632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banking — high complexity, multiple intermediaries, FX and wire fees.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54584" y="3931920"/>
            <a:ext cx="351129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3184" y="411480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21" name="Image 3" descr="/home/claude/gyb-deck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57" y="42464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8904" y="480060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Union / MoneyGram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8904" y="5193792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consumer remittance network and cash / agent payout infrastructure.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40200" y="3931920"/>
            <a:ext cx="3511296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68800" y="4114800"/>
            <a:ext cx="548640" cy="54864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26" name="Image 4" descr="/home/claude/gyb-deck/icons/hexag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473" y="424647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4520" y="480060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Crypto-first remittance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4520" y="5193792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and blockchain settlement, dependent on on-ramp / off-ramp liquidity.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125816" y="3931920"/>
            <a:ext cx="3511296" cy="2148840"/>
          </a:xfrm>
          <a:prstGeom prst="roundRect">
            <a:avLst>
              <a:gd name="adj" fmla="val 3830"/>
            </a:avLst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4416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gyb-deck/icons/sh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089" y="42464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0136" y="480060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0136" y="5193792"/>
            <a:ext cx="2962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0D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multi-rail infrastructure that routes every transfer to its optimal path — automatically.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REFERENCE POINTS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charges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/ illustrative reference pricing — pricing varies by corridor, funding method, currency pair and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01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Skydo — business / international payments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167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recurring business payments — not one-time individual remittance.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651760"/>
          <a:ext cx="4754880" cy="13716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$2,000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$2,001 – $10,000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$10,000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6868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+ 1% regional currency fee for payments from UAE in AED.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77240" y="4709160"/>
            <a:ext cx="4937760" cy="621792"/>
          </a:xfrm>
          <a:prstGeom prst="roundRect">
            <a:avLst>
              <a:gd name="adj" fmla="val 13235"/>
            </a:avLst>
          </a:prstGeom>
          <a:solidFill>
            <a:srgbClr val="E1F7F2"/>
          </a:solidFill>
          <a:ln w="12700">
            <a:solidFill>
              <a:srgbClr val="BFEB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7091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is Skydo's business-payments pricing, not consumer P2P remittance pricing.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45352" y="160020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D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65392" y="1801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Wise — observed reference examples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565392" y="2167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examples captured at a point in time — not fixed pricing.</a:t>
            </a:r>
            <a:endParaRPr lang="en-US" sz="10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392" y="2651760"/>
          <a:ext cx="4754880" cy="100584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fees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565392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example: $6.11 wire fee + $42.79 Wise fee = $48.90 total.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473952" y="4709160"/>
            <a:ext cx="4937760" cy="621792"/>
          </a:xfrm>
          <a:prstGeom prst="roundRect">
            <a:avLst>
              <a:gd name="adj" fmla="val 13235"/>
            </a:avLst>
          </a:prstGeom>
          <a:solidFill>
            <a:srgbClr val="E1F7F2"/>
          </a:solidFill>
          <a:ln w="12700">
            <a:solidFill>
              <a:srgbClr val="BFEB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02552" y="47091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096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depends on source/destination country, funding method, currency pair and time.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GYB transfer actually cost?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moving money — before GYB takes any margin — illustrated on a £500 UK → India transfer.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9488" y="1783080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4080" y="1988820"/>
            <a:ext cx="365760" cy="365760"/>
          </a:xfrm>
          <a:prstGeom prst="ellipse">
            <a:avLst/>
          </a:prstGeom>
          <a:solidFill>
            <a:srgbClr val="00C2A0"/>
          </a:solidFill>
          <a:ln/>
        </p:spPr>
      </p:sp>
      <p:sp>
        <p:nvSpPr>
          <p:cNvPr id="7" name="Text 5"/>
          <p:cNvSpPr/>
          <p:nvPr/>
        </p:nvSpPr>
        <p:spPr>
          <a:xfrm>
            <a:off x="1094080" y="1988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1280" y="17830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£500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39616" y="2171700"/>
            <a:ext cx="192024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49928" y="1783080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4520" y="1988820"/>
            <a:ext cx="365760" cy="365760"/>
          </a:xfrm>
          <a:prstGeom prst="ellipse">
            <a:avLst/>
          </a:prstGeom>
          <a:solidFill>
            <a:srgbClr val="00C2A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4520" y="1988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1720" y="17830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collection / funding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60056" y="2171700"/>
            <a:ext cx="192024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70368" y="1783080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4960" y="1988820"/>
            <a:ext cx="365760" cy="365760"/>
          </a:xfrm>
          <a:prstGeom prst="ellipse">
            <a:avLst/>
          </a:prstGeom>
          <a:solidFill>
            <a:srgbClr val="00C2A0"/>
          </a:solidFill>
          <a:ln/>
        </p:spPr>
      </p:sp>
      <p:sp>
        <p:nvSpPr>
          <p:cNvPr id="17" name="Text 15"/>
          <p:cNvSpPr/>
          <p:nvPr/>
        </p:nvSpPr>
        <p:spPr>
          <a:xfrm>
            <a:off x="8134960" y="1988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2160" y="17830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conversion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9488" y="2761488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4080" y="2967228"/>
            <a:ext cx="365760" cy="365760"/>
          </a:xfrm>
          <a:prstGeom prst="ellipse">
            <a:avLst/>
          </a:prstGeom>
          <a:solidFill>
            <a:srgbClr val="00C2A0"/>
          </a:solidFill>
          <a:ln/>
        </p:spPr>
      </p:sp>
      <p:sp>
        <p:nvSpPr>
          <p:cNvPr id="21" name="Text 19"/>
          <p:cNvSpPr/>
          <p:nvPr/>
        </p:nvSpPr>
        <p:spPr>
          <a:xfrm>
            <a:off x="1094080" y="29672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1280" y="27614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(multi-rail)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9616" y="3150108"/>
            <a:ext cx="192024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49928" y="2761488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4520" y="2967228"/>
            <a:ext cx="365760" cy="365760"/>
          </a:xfrm>
          <a:prstGeom prst="ellipse">
            <a:avLst/>
          </a:prstGeom>
          <a:solidFill>
            <a:srgbClr val="00C2A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4520" y="29672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1720" y="27614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payout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60056" y="3150108"/>
            <a:ext cx="192024" cy="0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70368" y="2761488"/>
            <a:ext cx="3291840" cy="777240"/>
          </a:xfrm>
          <a:prstGeom prst="roundRect">
            <a:avLst>
              <a:gd name="adj" fmla="val 10588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4960" y="2967228"/>
            <a:ext cx="365760" cy="365760"/>
          </a:xfrm>
          <a:prstGeom prst="ellipse">
            <a:avLst/>
          </a:prstGeom>
          <a:solidFill>
            <a:srgbClr val="00C2A0"/>
          </a:solidFill>
          <a:ln/>
        </p:spPr>
      </p:sp>
      <p:sp>
        <p:nvSpPr>
          <p:cNvPr id="31" name="Text 29"/>
          <p:cNvSpPr/>
          <p:nvPr/>
        </p:nvSpPr>
        <p:spPr>
          <a:xfrm>
            <a:off x="8134960" y="29672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2160" y="27614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receives INR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9488" y="3922776"/>
            <a:ext cx="5029200" cy="1874520"/>
          </a:xfrm>
          <a:prstGeom prst="roundRect">
            <a:avLst>
              <a:gd name="adj" fmla="val 4390"/>
            </a:avLst>
          </a:prstGeom>
          <a:solidFill>
            <a:srgbClr val="24365F"/>
          </a:solidFill>
          <a:ln w="12700">
            <a:solidFill>
              <a:srgbClr val="3447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5228" y="4110228"/>
            <a:ext cx="502920" cy="502920"/>
          </a:xfrm>
          <a:prstGeom prst="ellipse">
            <a:avLst/>
          </a:prstGeom>
          <a:solidFill>
            <a:srgbClr val="00C2A0"/>
          </a:solidFill>
          <a:ln/>
        </p:spPr>
      </p:sp>
      <p:pic>
        <p:nvPicPr>
          <p:cNvPr id="35" name="Image 0" descr="/home/claude/gyb-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928" y="4230929"/>
            <a:ext cx="261518" cy="26151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706728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TO MOVE MONEY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249528" y="479145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banks, FX providers, blockchain networks, on/off-ramps and payout rails actually charge to move the money — researched line-by-line on the next slide.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233008" y="3922776"/>
            <a:ext cx="5029200" cy="1874520"/>
          </a:xfrm>
          <a:prstGeom prst="roundRect">
            <a:avLst>
              <a:gd name="adj" fmla="val 4390"/>
            </a:avLst>
          </a:prstGeom>
          <a:solidFill>
            <a:srgbClr val="24365F"/>
          </a:solidFill>
          <a:ln w="12700">
            <a:solidFill>
              <a:srgbClr val="4A3B1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38748" y="4110228"/>
            <a:ext cx="502920" cy="502920"/>
          </a:xfrm>
          <a:prstGeom prst="ellipse">
            <a:avLst/>
          </a:prstGeom>
          <a:solidFill>
            <a:srgbClr val="F2B85C"/>
          </a:solidFill>
          <a:ln/>
        </p:spPr>
      </p:sp>
      <p:pic>
        <p:nvPicPr>
          <p:cNvPr id="40" name="Image 1" descr="/home/claude/gyb-deck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48" y="4230929"/>
            <a:ext cx="261518" cy="26151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010248" y="4142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GYB'S FEE TO THE CUSTOMER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553048" y="479145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set. GYB has not launched live customer pricing (see Current State). The Wise and Skydo reference points shown earlier are today's market alternatives — not a GYB price.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leg actually costs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market rates for a UK → India transfer — not a single fixed price.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18520" cy="4526280"/>
        </p:xfrm>
        <a:graphic>
          <a:graphicData uri="http://schemas.openxmlformats.org/drawingml/2006/table">
            <a:tbl>
              <a:tblPr/>
              <a:tblGrid>
                <a:gridCol w="1691640"/>
                <a:gridCol w="1600200"/>
                <a:gridCol w="1051560"/>
                <a:gridCol w="3429000"/>
                <a:gridCol w="3246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Cost Component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Who Charges It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Typical Current Cost (2026)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Future Optimization</a:t>
                      </a: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6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UK collection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Bank / PSP / partner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B84"/>
                          </a:solidFill>
                        </a:rPr>
                        <a:t>External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£0.05–£0.50+ per txn — fixed fee, volume-tiered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Local / open-banking collection at scale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FX conversion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FX provider / liquidity partner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B84"/>
                          </a:solidFill>
                        </a:rPr>
                        <a:t>External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~2–3% retail bank markup — FX spread (%)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Institutional / wholesale FX access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Stablecoin on-ramp (optional)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Retail on-ramp provider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593AC"/>
                          </a:solidFill>
                        </a:rPr>
                        <a:t>Optional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~1–4.5% card; ~0.5–1% bank transfer — % + min. fee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Institutional minting — no retail ramp needed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Blockchain settlement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Solana network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B84"/>
                          </a:solidFill>
                        </a:rPr>
                        <a:t>External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~$0.0005–$0.01 per txn — fixed, negligible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Already near-minimal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Off-ramp (optional)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Crypto / payout partner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593AC"/>
                          </a:solidFill>
                        </a:rPr>
                        <a:t>Optional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~1–5.5% retail; ~0.1–2.5% institutional B2B — % + min. fee, or negotiated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Wholesale / institutional liquidity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India payout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Bank / PSP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B84"/>
                          </a:solidFill>
                        </a:rPr>
                        <a:t>External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~₹2.5–5 (~$0.03–$0.06) per txn — fixed fee, volume-tiered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Bulk / local payout pricing at scale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Compliance / KYC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Verification provider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C6B84"/>
                          </a:solidFill>
                        </a:rPr>
                        <a:t>External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~$1–$3 per check + $0.50–$1.50 AML — fixed fee, volume-tiered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Volume-based / negotiated pricing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Reconciliation / ops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GYB infrastructure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967F"/>
                          </a:solidFill>
                        </a:rPr>
                        <a:t>Internal (GYB)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Engineering cost — not a market fee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1B33"/>
                          </a:solidFill>
                        </a:rPr>
                        <a:t>Automation reduces marginal cost</a:t>
                      </a:r>
                      <a:endParaRPr lang="en-US" sz="9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1996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(2026): Telleroo UK payments guide; Cambridge Currencies GBP/INR forecast; MoonPay &amp; Transak fee pages; Circle Mint pricing; Solana network fee data; eco.com &amp; Tazapay stablecoin B2B guides; Cashfree Payments pricing; Sumsub / Onfido / Veriff KYC pricing comparisons.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BETTER ECONOMICS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retail pilot to institutional economics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intermediaries, wholesale access — why GYB's multi-rail architecture can progressively reduce the real cost of moving money.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RETAIL / EARLY PILOT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19672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INSTITUTIONAL AT SCALE  (GYB target — not yet live)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214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Customer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2455164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Collection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2875788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962656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626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Provider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3296412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383280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832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3717036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803904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039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/ EURC (optional)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4137660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224528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245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4558284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4645152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451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Off-ramp / Payout Provider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08960" y="4978908"/>
            <a:ext cx="0" cy="82296"/>
          </a:xfrm>
          <a:prstGeom prst="line">
            <a:avLst/>
          </a:prstGeom>
          <a:noFill/>
          <a:ln w="19050">
            <a:solidFill>
              <a:srgbClr val="F2B8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5065776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F2B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065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19672" y="2121408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1214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Sender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79992" y="2455164"/>
            <a:ext cx="0" cy="82296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19672" y="2542032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2542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GBP Collection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79992" y="2875788"/>
            <a:ext cx="0" cy="82296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19672" y="2962656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9626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GYB Liquidity &amp; Netting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79992" y="3296412"/>
            <a:ext cx="0" cy="82296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19672" y="3383280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3832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FX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79992" y="3717036"/>
            <a:ext cx="0" cy="82296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519672" y="3803904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8039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Stablecoin Settlement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079992" y="4137660"/>
            <a:ext cx="0" cy="82296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519672" y="4224528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2245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/ Local INR Payout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079992" y="4558284"/>
            <a:ext cx="0" cy="82296"/>
          </a:xfrm>
          <a:prstGeom prst="line">
            <a:avLst/>
          </a:prstGeom>
          <a:noFill/>
          <a:ln w="19050">
            <a:solidFill>
              <a:srgbClr val="00C2A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519672" y="4645152"/>
            <a:ext cx="5120640" cy="329184"/>
          </a:xfrm>
          <a:prstGeom prst="roundRect">
            <a:avLst>
              <a:gd name="adj" fmla="val 19444"/>
            </a:avLst>
          </a:prstGeom>
          <a:solidFill>
            <a:srgbClr val="24365F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6451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22960" y="5504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B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~6.4%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822960" y="5888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retail cross-border cost today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822960" y="6126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i="1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Remittance Prices Worldwide, Q1 2026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5029200" y="5504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6309360" y="5504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~0.1–0.5%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6309360" y="5888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C7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institutional / wholesale cost via multi-rail settlement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6309360" y="6126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i="1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 of blockchain-based settlement costs, 2026</a:t>
            </a:r>
            <a:endParaRPr lang="en-US" sz="730" dirty="0"/>
          </a:p>
        </p:txBody>
      </p:sp>
      <p:sp>
        <p:nvSpPr>
          <p:cNvPr id="57" name="Text 55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C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corridor to a global rail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→ India corridor proves the model. The architecture was built for many more.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43888" y="3429000"/>
            <a:ext cx="8503920" cy="0"/>
          </a:xfrm>
          <a:prstGeom prst="line">
            <a:avLst/>
          </a:prstGeom>
          <a:noFill/>
          <a:ln w="25400">
            <a:solidFill>
              <a:srgbClr val="C3D1E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32408" y="3017520"/>
            <a:ext cx="822960" cy="822960"/>
          </a:xfrm>
          <a:prstGeom prst="ellipse">
            <a:avLst/>
          </a:prstGeom>
          <a:solidFill>
            <a:srgbClr val="00C2A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D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32408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0868" y="4142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UK → India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308" y="4892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multi-rail model on one high-volume corridor.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67048" y="3017520"/>
            <a:ext cx="822960" cy="822960"/>
          </a:xfrm>
          <a:prstGeom prst="ellipse">
            <a:avLst/>
          </a:prstGeom>
          <a:solidFill>
            <a:srgbClr val="00C2A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D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67048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75508" y="4142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high-volume corridors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66948" y="4892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routing and liquidity to further sender / recipient pairs.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01688" y="3017520"/>
            <a:ext cx="822960" cy="822960"/>
          </a:xfrm>
          <a:prstGeom prst="ellipse">
            <a:avLst/>
          </a:prstGeom>
          <a:solidFill>
            <a:srgbClr val="00C2A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D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01688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0148" y="4142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sender &amp; recipient coverage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1588" y="4892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sender, any recipient, routed through GYB.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936328" y="3017520"/>
            <a:ext cx="822960" cy="822960"/>
          </a:xfrm>
          <a:prstGeom prst="ellipse">
            <a:avLst/>
          </a:prstGeom>
          <a:solidFill>
            <a:srgbClr val="00C2A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D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36328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44788" y="4142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multi-rail optimization at scale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36228" y="48920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Fiat, liquidity, netting and blockchain settlement working together.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436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463040" y="676656"/>
            <a:ext cx="877824" cy="32918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40864" y="676656"/>
            <a:ext cx="548640" cy="548640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005840"/>
            <a:ext cx="603504" cy="7680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9504" y="1225296"/>
            <a:ext cx="438912" cy="71323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6544" y="1773936"/>
            <a:ext cx="603504" cy="87782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340864" y="512064"/>
            <a:ext cx="1152144" cy="16459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889504" y="512064"/>
            <a:ext cx="603504" cy="71323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82496" y="1773936"/>
            <a:ext cx="384048" cy="65836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82496" y="2432304"/>
            <a:ext cx="987552" cy="21945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1938528"/>
            <a:ext cx="658368" cy="71323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5258" y="918058"/>
            <a:ext cx="175565" cy="175565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621792"/>
            <a:ext cx="109728" cy="109728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18181" y="1153973"/>
            <a:ext cx="142646" cy="142646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17166" y="1724558"/>
            <a:ext cx="98755" cy="98755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68066" y="1878178"/>
            <a:ext cx="120701" cy="120701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38605" y="2388413"/>
            <a:ext cx="87782" cy="87782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93238" y="2574950"/>
            <a:ext cx="153619" cy="153619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4603" y="473659"/>
            <a:ext cx="76810" cy="76810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10607040" y="5431536"/>
            <a:ext cx="877824" cy="32918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84864" y="5431536"/>
            <a:ext cx="548640" cy="548640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07040" y="5760720"/>
            <a:ext cx="603504" cy="76809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33504" y="5980176"/>
            <a:ext cx="438912" cy="71323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10544" y="6528816"/>
            <a:ext cx="603504" cy="877824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1484864" y="5266944"/>
            <a:ext cx="1152144" cy="16459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2033504" y="5266944"/>
            <a:ext cx="603504" cy="71323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26496" y="6528816"/>
            <a:ext cx="384048" cy="658368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26496" y="7187184"/>
            <a:ext cx="987552" cy="219456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14048" y="6693408"/>
            <a:ext cx="658368" cy="713232"/>
          </a:xfrm>
          <a:prstGeom prst="line">
            <a:avLst/>
          </a:prstGeom>
          <a:noFill/>
          <a:ln w="12700">
            <a:solidFill>
              <a:srgbClr val="00C2A0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9258" y="5672938"/>
            <a:ext cx="175565" cy="175565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0" y="5376672"/>
            <a:ext cx="109728" cy="109728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962181" y="5908853"/>
            <a:ext cx="142646" cy="142646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161166" y="6479438"/>
            <a:ext cx="98755" cy="98755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412066" y="6633058"/>
            <a:ext cx="120701" cy="120701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782605" y="7143293"/>
            <a:ext cx="87782" cy="87782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737238" y="7329830"/>
            <a:ext cx="153619" cy="153619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598603" y="5228539"/>
            <a:ext cx="76810" cy="76810"/>
          </a:xfrm>
          <a:prstGeom prst="ellipse">
            <a:avLst/>
          </a:prstGeom>
          <a:solidFill>
            <a:srgbClr val="00C2A0">
              <a:alpha val="92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rgbClr val="00C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GYB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188720" y="2468880"/>
            <a:ext cx="9811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“GYB — the rail that decides how money should move, so no one else has to.”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1645920" y="4160520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infrastructure for global, programmable cross-border payments.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C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INVESTOR DISCUSSION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2026-08-22T11:50:45Z</dcterms:created>
  <dcterms:modified xsi:type="dcterms:W3CDTF">2026-08-22T11:50:45Z</dcterms:modified>
</cp:coreProperties>
</file>